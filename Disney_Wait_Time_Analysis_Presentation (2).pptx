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.fntdata"/><Relationship Id="rId6" Type="http://schemas.openxmlformats.org/officeDocument/2006/relationships/slide" Target="slides/slide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6fcab68f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6fcab68f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6fcab68f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6fcab68f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6fcab68f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6fcab68f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7019ea6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7019ea6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7019ea6f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7019ea6f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7019ea6f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7019ea6f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7019ea6f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7019ea6f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7019ea6f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7019ea6f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7019ea6f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7019ea6f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7019ea6f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7019ea6f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7019ea6f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7019ea6f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196650"/>
            <a:ext cx="9144000" cy="113700"/>
          </a:xfrm>
          <a:prstGeom prst="rect">
            <a:avLst/>
          </a:prstGeom>
          <a:solidFill>
            <a:srgbClr val="1F3A5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0" y="310350"/>
            <a:ext cx="9144000" cy="46200"/>
          </a:xfrm>
          <a:prstGeom prst="rect">
            <a:avLst/>
          </a:prstGeom>
          <a:solidFill>
            <a:srgbClr val="D4AF3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Disney Wait Time Analysis: Is Lightning Lane Worth It?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Problem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Disney guests often face long wait times for popular rides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Lightning Lane is a paid option to skip lines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is unclear when and where Lightning Lane provides the most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Key Question: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Lightning Lane significantly reduce wait times, and when is it most valuable?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Public dataset of Disney World ride wait times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Includes multiple rides across different parks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includes: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Date and time of ride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Posted and actual wait times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Over </a:t>
            </a:r>
            <a:r>
              <a:rPr b="1" lang="en"/>
              <a:t>270,000+ </a:t>
            </a:r>
            <a:r>
              <a:rPr b="1" lang="en"/>
              <a:t>observations</a:t>
            </a:r>
            <a:r>
              <a:rPr b="1" lang="en"/>
              <a:t> analyzed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Preparation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Combined multiple ride datasets into one dataset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Created a unified </a:t>
            </a:r>
            <a:r>
              <a:rPr b="1" lang="en"/>
              <a:t>wait_time</a:t>
            </a:r>
            <a:r>
              <a:rPr lang="en"/>
              <a:t> column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Converted datetime fields for time-based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Removed: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Negative wait times (invalid data)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Missing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Ensured accurate and reliable analysis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Wait Times Peak in the Afternoon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4850700" y="1152475"/>
            <a:ext cx="398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Points: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Afternoon: ~53 minutes (highest)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Morning: ~35 minutes (lowest)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Evening: ~38 minutes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Insight: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Peak demand occurs in the afternoon</a:t>
            </a:r>
            <a:endParaRPr/>
          </a:p>
        </p:txBody>
      </p:sp>
      <p:pic>
        <p:nvPicPr>
          <p:cNvPr id="82" name="Google Shape;82;p17" title="wait_by_ti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53901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Certain Rides Drive the Longest Waits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5510475" y="1152475"/>
            <a:ext cx="332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Points:</a:t>
            </a:r>
            <a:endParaRPr/>
          </a:p>
          <a:p>
            <a:pPr indent="-325755" lvl="0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Seven Dwarfs Mine Train (~78 min)</a:t>
            </a:r>
            <a:endParaRPr/>
          </a:p>
          <a:p>
            <a:pPr indent="-32575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Na’vi River Journey (~74 min)</a:t>
            </a:r>
            <a:endParaRPr/>
          </a:p>
          <a:p>
            <a:pPr indent="-32575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Other rides are significantly lower (24–39 min)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Insight:</a:t>
            </a:r>
            <a:endParaRPr/>
          </a:p>
          <a:p>
            <a:pPr indent="-325755" lvl="0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 small number of rides account for the longest wait times</a:t>
            </a:r>
            <a:endParaRPr/>
          </a:p>
        </p:txBody>
      </p:sp>
      <p:pic>
        <p:nvPicPr>
          <p:cNvPr id="89" name="Google Shape;89;p18" title="avg_wait_by_r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50188"/>
            <a:ext cx="519876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Lightning Lane Significantly Reduces Wait Time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5369475" y="1152475"/>
            <a:ext cx="346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Points:</a:t>
            </a:r>
            <a:endParaRPr/>
          </a:p>
          <a:p>
            <a:pPr indent="-334328" lvl="0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Average standby wait: ~43 minutes</a:t>
            </a:r>
            <a:endParaRPr/>
          </a:p>
          <a:p>
            <a:pPr indent="-334328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Estimated Lightning Lane wait: ~13 minutes</a:t>
            </a:r>
            <a:endParaRPr/>
          </a:p>
          <a:p>
            <a:pPr indent="-334328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~30 minutes saved per ride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Insight:</a:t>
            </a:r>
            <a:endParaRPr/>
          </a:p>
          <a:p>
            <a:pPr indent="-334328" lvl="0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Lightning Lane reduces wait times by ~70%</a:t>
            </a:r>
            <a:endParaRPr/>
          </a:p>
        </p:txBody>
      </p:sp>
      <p:pic>
        <p:nvPicPr>
          <p:cNvPr id="96" name="Google Shape;96;p19" title="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057775" cy="35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is Lightning Lane Most Valuable?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During </a:t>
            </a:r>
            <a:r>
              <a:rPr b="1" lang="en"/>
              <a:t>afternoon</a:t>
            </a:r>
            <a:r>
              <a:rPr b="1" lang="en"/>
              <a:t> peak hours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</a:t>
            </a:r>
            <a:r>
              <a:rPr b="1" lang="en"/>
              <a:t>high-demand rides</a:t>
            </a:r>
            <a:r>
              <a:rPr lang="en"/>
              <a:t>: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Seven Dwarfs Mine Train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Na’vi River Journey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Conclusion: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Lightning Lane provides the greatest benefit during peak demand periods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Guests: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Lightning Lane for high-demand rides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Prioritize usage in the afternoon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Ride lower-demand attractions without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Disney: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dynamic pricing based on demand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Optimize ride capacity for high-wait attractions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Wait times are highest in the afternoon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few rides drive the majority of long waits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Lightning Lane significantly reduces wait times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Best Strategy: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Lightning Lane selectively for peak times and high-demand rides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&amp; </a:t>
            </a:r>
            <a:r>
              <a:rPr lang="en"/>
              <a:t>Skills</a:t>
            </a:r>
            <a:r>
              <a:rPr lang="en"/>
              <a:t> Demonstrated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Python (Pandas, Matplotlib)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Cleaning &amp; Transformation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Exploratory Data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Visualization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Insight Communication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Disney World Wait Time Dataset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Public dataset (Touring Plans / Kaggle / GitHub)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Data cleaned and transformed for analysis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